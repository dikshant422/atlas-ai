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75" r:id="rId6"/>
    <p:sldId id="261" r:id="rId7"/>
    <p:sldId id="263" r:id="rId8"/>
    <p:sldId id="264" r:id="rId9"/>
    <p:sldId id="265" r:id="rId10"/>
    <p:sldId id="276" r:id="rId11"/>
    <p:sldId id="268" r:id="rId12"/>
    <p:sldId id="279" r:id="rId13"/>
    <p:sldId id="271" r:id="rId14"/>
    <p:sldId id="277" r:id="rId15"/>
    <p:sldId id="272" r:id="rId16"/>
    <p:sldId id="278" r:id="rId17"/>
    <p:sldId id="274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1EFA45-2EBD-44D9-9684-393495142776}">
  <a:tblStyle styleId="{561EFA45-2EBD-44D9-9684-3934951427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f7df6b6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f7df6b6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0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202501100038@mitaoe.ac.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3"/>
          <p:cNvGraphicFramePr/>
          <p:nvPr>
            <p:extLst>
              <p:ext uri="{D42A27DB-BD31-4B8C-83A1-F6EECF244321}">
                <p14:modId xmlns:p14="http://schemas.microsoft.com/office/powerpoint/2010/main" val="2929123688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{561EFA45-2EBD-44D9-9684-393495142776}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7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Dikshant Ojha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u="sng" dirty="0">
                          <a:solidFill>
                            <a:schemeClr val="hlink"/>
                          </a:solidFill>
                          <a:hlinkClick r:id="rId3"/>
                        </a:rPr>
                        <a:t>202501100038@mitaoe.ac.in</a:t>
                      </a:r>
                      <a:r>
                        <a:rPr lang="en-US" dirty="0"/>
                        <a:t> 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/>
                        <a:t>7304753830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7" name="Google Shape;87;p13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US" sz="24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Education</a:t>
            </a:r>
            <a:endParaRPr sz="24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06162" y="551965"/>
            <a:ext cx="9581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US" sz="2400" b="1" dirty="0">
                <a:solidFill>
                  <a:srgbClr val="1A1A1A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Course Content Simplification Agent</a:t>
            </a:r>
          </a:p>
          <a:p>
            <a:pPr lvl="0">
              <a:buSzPts val="2400"/>
            </a:pPr>
            <a:r>
              <a:rPr lang="en-US" sz="2400" b="1" dirty="0">
                <a:highlight>
                  <a:srgbClr val="FFFF00"/>
                </a:highlight>
              </a:rPr>
              <a:t>(Problem No : 19)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4AA2E9-4E7E-5F1E-4FA7-87D2C92C8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415" y="3629168"/>
            <a:ext cx="891617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405997" y="792215"/>
            <a:ext cx="10607100" cy="566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400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</a:t>
            </a:r>
            <a:r>
              <a:rPr lang="en-US" b="1" dirty="0"/>
              <a:t>Course Content Simplification Agent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content often presents significant barriers to student learning: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jargon and technical terminology make study materials difficult to understand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spend excessive time deciphering dense explanations and lengthy passages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One-size-fits-all educational resources don't adapt to different learning levels (Beginner/Intermediate/Expert)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access to personalized explanations and simplified versions of course materials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struggle to connect academic concepts to real-world applications</a:t>
            </a:r>
          </a:p>
          <a:p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Atlas AI, an intelligent AI-powered Course Content Simplification Agent that transforms complex academic material into clear, understandable content tailored to individual learning levels.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The proposed solution aims to</a:t>
            </a:r>
            <a:r>
              <a:rPr lang="en-US" sz="1100" dirty="0">
                <a:solidFill>
                  <a:schemeClr val="dk1"/>
                </a:solidFill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Simplify complex course content while preserving technical accuracy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multi-level explanations (Beginner → Intermediate → Expert)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multiple languages for broader accessibility (English, Hindi, Marathi, Tamil, Telugu, Bengali, Kannada)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jargon-busting definitions and real-world analogies for better comprehension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document-aware Q&amp;A through Retrieval-Augmented Generation (RAG)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 personalized learning assistance at scale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86922" y="125788"/>
            <a:ext cx="721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356616" y="315534"/>
            <a:ext cx="11722608" cy="6771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 </a:t>
            </a:r>
            <a:r>
              <a:rPr lang="en-US" b="1" dirty="0"/>
              <a:t>Atlas AI (Your Intelligent Learning Companion) Translate, Learn, Ask, Create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AI is an intelligent course content simplification agent built with IBM Granite models and Retrieval-Augmented Generation (RAG) to make learning accessible and personalized.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Content Simplification Engine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Analyzes complex academic text and rewrites it for target proficiency levels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Preserves technical accuracy while ensuring clarity and readability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Supports multiple output languages for regional and international students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Intelligent Jargon Management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Automatically extracts technical terms from content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Provides simple definitions accessible to beginners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Creates real-world analogies to connect abstract concepts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Retrieval-Augmented Generation (RAG)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Extracts text from uploaded PDF/TXT documents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Builds a FAISS vector index for semantic document search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Enables document-aware Q&amp;A grounded in actual study material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Multi-Level Learning Support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Beginner Level: Simple language, short sentences, no jargon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Intermediate Level: Clear explanations with key terms introduced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Expert Level: Academic rigor with simplified complex sentences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User-Friendly Dashboard (</a:t>
            </a: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Tab 1: Content Simplifier for direct text input or document upload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Tab 2: RAG Chat for asking questions about uploaded documents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Real-time processing with instant results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84632" y="15544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2926080" y="146304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 for backend logic and agent orchestration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60960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Granite: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2926080" y="201168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(ibm/granite-3-3-8b-instruct) for NLU, summarization, and content generation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Streamlit: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2926080" y="256032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framework for building responsive user interface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60960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Watsonx.ai: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2926080" y="310896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 for model deployment, embeddings, and AI governance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Architecture: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2926080" y="365760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for document-grounded Q&amp;A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60960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FAISS: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2926080" y="420624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AI Similarity Search for high-speed vector indexing and retrieval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609600" y="4754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SentenceTransformers: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2926080" y="475488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model for semantic text embeddings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60960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 &amp; Text Processing: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2926080" y="5303520"/>
            <a:ext cx="865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extraction and text chunking for document processing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Components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Components (Implemented in Python):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853440" y="219456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File Upload Component – Accepts PDF, TXT, and text input from users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853440" y="268224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Text Extraction Module – Extracts and preprocesses content from documents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853440" y="316992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Text Chunking &amp; Embedding – Splits text into semantic chunks and creates vector embeddings using SentenceTransformers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853440" y="365760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FAISS Vector Index – Stores embeddings for fast semantic search and retrieval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853440" y="414528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IBM Granite LLM Component – Processes simplification requests and generates context-aware responses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853440" y="463296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RAG Retrieval Pipeline – Fetches relevant document chunks based on semantic similarity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853440" y="512064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7) Streamlit UI Component – Provides interactive tabs for content simplification and document Q&amp;A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853440" y="5608320"/>
            <a:ext cx="1072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8) Session State Manager – Maintains chat history and document context across interactions</a:t>
            </a:r>
            <a:endParaRPr lang="en-US" sz="17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5ED1B-CB27-7A0D-4F25-F73306D55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771747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466344" y="0"/>
            <a:ext cx="9317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</a:t>
            </a:r>
            <a:r>
              <a:rPr lang="en-US" sz="3200" b="1" dirty="0"/>
              <a:t>Agentic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in </a:t>
            </a:r>
            <a:r>
              <a:rPr lang="en-US" sz="3200" b="1" dirty="0"/>
              <a:t>Atlas AI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84480" y="585000"/>
            <a:ext cx="11694159" cy="630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Atlas AI Leverages Agentic AI &amp; IBM Granite:</a:t>
            </a:r>
            <a:endParaRPr lang="en-US" dirty="0"/>
          </a:p>
          <a:p>
            <a:endParaRPr lang="en-US" sz="100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Specialization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simplification agent specializes in understanding academic content and user proficiency levels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Adapts responses dynamically based on target audience and language preferences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Maintains context awareness throughout multi-turn conversations</a:t>
            </a:r>
            <a:endParaRPr lang="en-US" dirty="0"/>
          </a:p>
          <a:p>
            <a:endParaRPr lang="en-US" sz="400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Processing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Understands user inputs (proficiency level, language, domain context)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responses that match cognitive level while preserving technical accuracy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Retrieves relevant information from documents through intelligent semantic search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Simplification Agent: Rewrites complex text for target proficiency level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Jargon Analyzer: Extracts and defines technical terms contextually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Analogy Generator: Creates real-world connections to abstract concepts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RAG Retrieval Agent: Fetches document-grounded information for Q&amp;A</a:t>
            </a:r>
            <a:endParaRPr lang="en-US" dirty="0"/>
          </a:p>
          <a:p>
            <a:endParaRPr lang="en-US" sz="1000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Adaptation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Continuously learns from user interactions and feedback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Adjusts explanation depth and language complexity on demand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multiple regional languages dynamically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at Scale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Tailors learning experience to individual student needs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multi-level content (Beginner → Expert) from single source material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personalized study aids (summaries, analogies, practice questions)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Impact</a:t>
            </a:r>
            <a:endParaRPr lang="en-US" dirty="0"/>
          </a:p>
          <a:p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transforms static educational resources into an intelligent, adaptive, and personalized learning companion that understands student needs and delivers targeted educational support.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929667" y="1045583"/>
            <a:ext cx="4371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1.2M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token are used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793189" y="1827092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u="sng"/>
              <a:t>Resource Usage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9D50D-74BC-4593-29AC-43A5417B1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89" y="2563944"/>
            <a:ext cx="9356651" cy="39145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and Uniqueness</a:t>
            </a:r>
            <a:endParaRPr lang="en-US" sz="5333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1200912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Educational Focus with Agentic AI – Combines AI agents specifically designed for learning simplification, not generic chatbots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3440" y="1737360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Multi-Level Content Generation – Single source material generates Beginner/Intermediate/Expert versions automatically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3440" y="2243328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RAG-Grounded Learning – Answers are strictly based on uploaded documents, reducing hallucinations and improving 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3440" y="2737104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Jargon-Centric Approach – Explicitly identifies, defines, and contextualizes technical terminology for all learner types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3440" y="3243072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Real-World Analogy Generation – Creates concrete connections between abstract concepts and everyday experiences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3440" y="3637280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Multilingual Support – Extends accessibility across Indian and international student populations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3440" y="3978656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Document-Aware Q&amp;A – RAG pipeline ensures all responses are grounded in actual study material, not generic knowledge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3440" y="4372864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Proficiency-Adaptive Learning – Content complexity adjusts dynamically based on learner level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3440" y="4714240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Transparent AI Processing – Shows jargon definitions and reasoning, building student trust in AI assistance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440" y="5055616"/>
            <a:ext cx="1072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Cloud-Ready Architecture – Deployable on IBM Cloud with built-in scalability and governance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729700" y="2151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visuals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365451" y="4173307"/>
            <a:ext cx="3380287" cy="234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8232045" y="1690726"/>
            <a:ext cx="3090301" cy="2187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4112658" y="4032498"/>
            <a:ext cx="4583344" cy="2628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746932-4C3C-7648-A719-D1CF9ED81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08" y="1901096"/>
            <a:ext cx="7573432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37F1-E206-3F94-E58A-7EEDA15D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BEF97-C0E0-A22D-BC06-B5AFAEC56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https://github.com/Dikshant422/Atlas-AI</a:t>
            </a:r>
          </a:p>
        </p:txBody>
      </p:sp>
    </p:spTree>
    <p:extLst>
      <p:ext uri="{BB962C8B-B14F-4D97-AF65-F5344CB8AC3E}">
        <p14:creationId xmlns:p14="http://schemas.microsoft.com/office/powerpoint/2010/main" val="178042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552048" y="690061"/>
            <a:ext cx="639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04938" y="1359800"/>
            <a:ext cx="3160749" cy="245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7990643" y="1107350"/>
            <a:ext cx="3156539" cy="2461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4412349" y="4079971"/>
            <a:ext cx="3367299" cy="2083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82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</a:t>
            </a:r>
            <a:endParaRPr lang="en-US" sz="5333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Advanced Multi-Modal Learning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Integrate OCR to process scanned textbooks and handwritten notes; support voice input for accessibility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731520" y="2097024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AI-Powered Assessment Generation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Auto-generate multiple-choice questions, short-answer prompts, essay questions, and interactive quizzes from content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731520" y="2731008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Learning Analytics Dashboard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Track student progress, identify weak areas, provide personalized study recommendations based on performance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731520" y="3364992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Collaborative Learning Features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Enable peer-to-peer learning, study group features, and shared annotation on simplified content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3998976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Mobile Applications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Develop iOS/Android apps for on-the-go learning with offline support for downloaded content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731520" y="4632960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LMS Integration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Integrate with platforms like Moodle, Google Classroom, Canvas for seamless institution-wide deployment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731520" y="5266944"/>
            <a:ext cx="1072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Advanced RAG with Web Integration</a:t>
            </a:r>
            <a:endParaRPr lang="en-US" sz="1467" dirty="0"/>
          </a:p>
          <a:p>
            <a:r>
              <a:rPr lang="en-US" sz="1467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Extend RAG to fetch real-time information from web sources, academic databases, and research papers</a:t>
            </a:r>
            <a:endParaRPr lang="en-US" sz="14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BOB Certificate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5B62C9-07B5-0C33-D2E6-4FF7C7B8E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224" y="1397402"/>
            <a:ext cx="8051551" cy="49495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38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Note</a:t>
            </a:r>
            <a:endParaRPr lang="en-US" sz="5333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1722120"/>
            <a:ext cx="10972800" cy="341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is built with IBM Granite integration through the ibm-watsonx-ai SDK. </a:t>
            </a:r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supports both live IBM Watsonx mode (with valid credentials) and a full-featured Demo Mode </a:t>
            </a:r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simulates the exact same interface and behavior for demonstration purposes.</a:t>
            </a:r>
            <a:endParaRPr lang="en-US" sz="2133" dirty="0">
              <a:solidFill>
                <a:schemeClr val="tx1"/>
              </a:solidFill>
            </a:endParaRPr>
          </a:p>
          <a:p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core functionality—content simplification, RAG-based Q&amp;A, multi-level support, and language </a:t>
            </a:r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handling—works identically in both modes. The Demo Mode is fully functional for showcasing the </a:t>
            </a:r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without requiring active API credentials.</a:t>
            </a:r>
            <a:endParaRPr lang="en-US" sz="2133" dirty="0">
              <a:solidFill>
                <a:schemeClr val="tx1"/>
              </a:solidFill>
            </a:endParaRPr>
          </a:p>
          <a:p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source code with both modes is available in the GitHub repository, demonstrating </a:t>
            </a:r>
            <a:endParaRPr lang="en-US" sz="2133" dirty="0">
              <a:solidFill>
                <a:schemeClr val="tx1"/>
              </a:solidFill>
            </a:endParaRPr>
          </a:p>
          <a:p>
            <a:r>
              <a:rPr lang="en-US" sz="2133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 architecture suitable for educational deployment.</a:t>
            </a:r>
            <a:endParaRPr lang="en-US" sz="2133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B28F1C-6068-40AB-A869-4380D1BC089E}">
  <we:reference id="wa200005566" version="3.0.1.2" store="en-US" storeType="OMEX"/>
  <we:alternateReferences>
    <we:reference id="wa200005566" version="3.0.1.2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1409</Words>
  <Application>Microsoft Office PowerPoint</Application>
  <PresentationFormat>Widescreen</PresentationFormat>
  <Paragraphs>178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visuals</vt:lpstr>
      <vt:lpstr>GITHUB LINK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Dikshant</dc:creator>
  <cp:lastModifiedBy>Dikshant Ojha</cp:lastModifiedBy>
  <cp:revision>3</cp:revision>
  <dcterms:modified xsi:type="dcterms:W3CDTF">2026-07-15T17:30:54Z</dcterms:modified>
</cp:coreProperties>
</file>