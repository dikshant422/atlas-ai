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21"/>
  </p:notesMasterIdLst>
  <p:sldIdLst>
    <p:sldId id="256" r:id="rId2"/>
    <p:sldId id="257" r:id="rId3"/>
    <p:sldId id="258" r:id="rId4"/>
    <p:sldId id="260" r:id="rId5"/>
    <p:sldId id="275" r:id="rId6"/>
    <p:sldId id="261" r:id="rId7"/>
    <p:sldId id="263" r:id="rId8"/>
    <p:sldId id="264" r:id="rId9"/>
    <p:sldId id="281" r:id="rId10"/>
    <p:sldId id="265" r:id="rId11"/>
    <p:sldId id="282" r:id="rId12"/>
    <p:sldId id="276" r:id="rId13"/>
    <p:sldId id="268" r:id="rId14"/>
    <p:sldId id="279" r:id="rId15"/>
    <p:sldId id="271" r:id="rId16"/>
    <p:sldId id="277" r:id="rId17"/>
    <p:sldId id="272" r:id="rId18"/>
    <p:sldId id="278" r:id="rId19"/>
    <p:sldId id="274" r:id="rId2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61EFA45-2EBD-44D9-9684-393495142776}">
  <a:tblStyle styleId="{561EFA45-2EBD-44D9-9684-3934951427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1" name="Google Shape;9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6" name="Google Shape;1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2" name="Google Shape;13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9" name="Google Shape;13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>
          <a:extLst>
            <a:ext uri="{FF2B5EF4-FFF2-40B4-BE49-F238E27FC236}">
              <a16:creationId xmlns:a16="http://schemas.microsoft.com/office/drawing/2014/main" id="{B1417D8C-AFBB-B6C4-BC29-DBB6F4732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0:notes">
            <a:extLst>
              <a:ext uri="{FF2B5EF4-FFF2-40B4-BE49-F238E27FC236}">
                <a16:creationId xmlns:a16="http://schemas.microsoft.com/office/drawing/2014/main" id="{A9A0B62C-2C78-726B-FC2F-45BBCF23A8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9" name="Google Shape;139;p10:notes">
            <a:extLst>
              <a:ext uri="{FF2B5EF4-FFF2-40B4-BE49-F238E27FC236}">
                <a16:creationId xmlns:a16="http://schemas.microsoft.com/office/drawing/2014/main" id="{D5B5187B-F608-71AC-9041-089D9D8C64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459297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7f7df6b65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f7f7df6b65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1" name="Google Shape;19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0" name="Google Shape;20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4" name="Google Shape;21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9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5603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202501100038@mitaoe.ac.in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US" sz="6600" b="1"/>
              <a:t>IBM University Engagement Project Submission</a:t>
            </a:r>
            <a:br>
              <a:rPr lang="en-US" b="1"/>
            </a:br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lang="en-US" b="1" i="1"/>
              <a:t>“Exploring the Power of Agentic AI with IBM Granite and LangFlow”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86" name="Google Shape;86;p13"/>
          <p:cNvGraphicFramePr/>
          <p:nvPr>
            <p:extLst>
              <p:ext uri="{D42A27DB-BD31-4B8C-83A1-F6EECF244321}">
                <p14:modId xmlns:p14="http://schemas.microsoft.com/office/powerpoint/2010/main" val="2929123688"/>
              </p:ext>
            </p:extLst>
          </p:nvPr>
        </p:nvGraphicFramePr>
        <p:xfrm>
          <a:off x="1299257" y="2600315"/>
          <a:ext cx="9395000" cy="2167125"/>
        </p:xfrm>
        <a:graphic>
          <a:graphicData uri="http://schemas.openxmlformats.org/drawingml/2006/table">
            <a:tbl>
              <a:tblPr>
                <a:noFill/>
                <a:tableStyleId>{561EFA45-2EBD-44D9-9684-393495142776}</a:tableStyleId>
              </a:tblPr>
              <a:tblGrid>
                <a:gridCol w="206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75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92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732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/>
                        <a:t>Dikshant Ojha</a:t>
                      </a:r>
                      <a:endParaRPr sz="14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u="sng" dirty="0">
                          <a:solidFill>
                            <a:schemeClr val="hlink"/>
                          </a:solidFill>
                          <a:hlinkClick r:id="rId3"/>
                        </a:rPr>
                        <a:t>202501100038@mitaoe.ac.in</a:t>
                      </a:r>
                      <a:r>
                        <a:rPr lang="en-US" dirty="0"/>
                        <a:t> </a:t>
                      </a:r>
                      <a:endParaRPr sz="14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dirty="0"/>
                        <a:t>7304753830</a:t>
                      </a:r>
                      <a:endParaRPr sz="1400" u="none" strike="noStrike" cap="none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7" name="Google Shape;87;p13"/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Domain of  Project – </a:t>
            </a:r>
            <a:r>
              <a:rPr lang="en-US" sz="2400" b="1" i="0" u="none" strike="noStrike" cap="none">
                <a:solidFill>
                  <a:srgbClr val="000000"/>
                </a:solidFill>
                <a:highlight>
                  <a:srgbClr val="FFFF00"/>
                </a:highlight>
                <a:latin typeface="Arial"/>
                <a:ea typeface="Arial"/>
                <a:cs typeface="Arial"/>
                <a:sym typeface="Arial"/>
              </a:rPr>
              <a:t>Education</a:t>
            </a:r>
            <a:endParaRPr sz="2400" b="1" i="0" u="none" strike="noStrike" cap="none">
              <a:solidFill>
                <a:srgbClr val="000000"/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206162" y="551965"/>
            <a:ext cx="95811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400"/>
            </a:pPr>
            <a:r>
              <a:rPr lang="en-US" sz="2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Project Tile – </a:t>
            </a:r>
            <a:r>
              <a:rPr lang="en-US" sz="2400" b="1" dirty="0">
                <a:solidFill>
                  <a:srgbClr val="1A1A1A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Course Content Simplification Agent</a:t>
            </a:r>
          </a:p>
          <a:p>
            <a:pPr lvl="0">
              <a:buSzPts val="2400"/>
            </a:pPr>
            <a:r>
              <a:rPr lang="en-US" sz="2400" b="1" dirty="0">
                <a:highlight>
                  <a:srgbClr val="FFFF00"/>
                </a:highlight>
              </a:rPr>
              <a:t>(Problem No : 19)</a:t>
            </a:r>
            <a:endParaRPr sz="2400" b="1" i="0" u="none" strike="noStrike" cap="none" dirty="0">
              <a:solidFill>
                <a:srgbClr val="000000"/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4AA2E9-4E7E-5F1E-4FA7-87D2C92C8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415" y="3629168"/>
            <a:ext cx="891617" cy="91447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/>
        </p:nvSpPr>
        <p:spPr>
          <a:xfrm>
            <a:off x="405997" y="792215"/>
            <a:ext cx="10607100" cy="5664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1400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Problem Statement : </a:t>
            </a:r>
            <a:r>
              <a:rPr lang="en-US" b="1" dirty="0"/>
              <a:t>Course Content Simplification Agent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Challenge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content often presents significant barriers to student learning: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Complex jargon and technical terminology make study materials difficult to understand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Students spend excessive time deciphering dense explanations and lengthy passages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One-size-fits-all educational resources don't adapt to different learning levels (Beginner/Intermediate/Expert)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Limited access to personalized explanations and simplified versions of course materials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Students struggle to connect academic concepts to real-world applications</a:t>
            </a:r>
          </a:p>
          <a:p>
            <a:endParaRPr lang="en-US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Objective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Atlas AI, an intelligent AI-powered Course Content Simplification Agent that transforms complex academic material into clear, understandable content tailored to individual learning levels.</a:t>
            </a:r>
            <a:endParaRPr lang="en-US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The proposed solution aims to</a:t>
            </a:r>
            <a:r>
              <a:rPr lang="en-US" sz="1100" dirty="0">
                <a:solidFill>
                  <a:schemeClr val="dk1"/>
                </a:solidFill>
              </a:rPr>
              <a:t>: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Simplify complex course content while preserving technical accuracy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Provide multi-level explanations (Beginner → Intermediate → Expert)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Support multiple languages for broader accessibility (English, Hindi, Marathi, Tamil, Telugu, Bengali, Kannada)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Generate jargon-busting definitions and real-world analogies for better comprehension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Enable document-aware Q&amp;A through Retrieval-Augmented Generation (RAG)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Deliver personalized learning assistance at scale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286922" y="125788"/>
            <a:ext cx="7214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Problem Statement - </a:t>
            </a:r>
            <a:endParaRPr sz="2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/>
        </p:nvSpPr>
        <p:spPr>
          <a:xfrm>
            <a:off x="356616" y="315534"/>
            <a:ext cx="11722608" cy="6771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Proposed Solution: </a:t>
            </a:r>
            <a:r>
              <a:rPr lang="en-US" b="1" dirty="0"/>
              <a:t>Atlas AI (Your Intelligent Learning Companion) Translate, Learn, Ask, Create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SzPts val="1400"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AI is an intelligent course content simplification agent built with IBM Granite models and Retrieval-Augmented Generation (RAG) to make learning accessible and personalized.</a:t>
            </a:r>
            <a:endParaRPr lang="en-US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Features: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Content Simplification Engine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Analyzes complex academic text and rewrites it for target proficiency levels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Preserves technical accuracy while ensuring clarity and readability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Supports multiple output languages for regional and international students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Intelligent Jargon Management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Automatically extracts technical terms from content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Provides simple definitions accessible to beginners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Creates real-world analogies to connect abstract concepts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Retrieval-Augmented Generation (RAG)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Extracts text from uploaded PDF/TXT documents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Builds a FAISS vector index for semantic document search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Enables document-aware Q&amp;A grounded in actual study material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Multi-Level Learning Support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Beginner Level: Simple language, short sentences, no jargon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Intermediate Level: Clear explanations with key terms introduced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Expert Level: Academic rigor with simplified complex sentences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User-Friendly Dashboard (</a:t>
            </a:r>
            <a:r>
              <a:rPr lang="en-US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Tab 1: Content Simplifier for direct text input or document upload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Tab 2: RAG Chat for asking questions about uploaded documents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Real-time processing with instant results</a:t>
            </a:r>
            <a:endParaRPr lang="en-US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6"/>
          <p:cNvSpPr txBox="1"/>
          <p:nvPr/>
        </p:nvSpPr>
        <p:spPr>
          <a:xfrm>
            <a:off x="484632" y="155448"/>
            <a:ext cx="721461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Proposed Solution -</a:t>
            </a:r>
            <a:endParaRPr sz="2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182880"/>
            <a:ext cx="109728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Used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609600" y="14630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Python: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2926080" y="146304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programming language for backend logic and agent orchestration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609600" y="20116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Granite: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926080" y="201168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 (ibm/granite-3-3-8b-instruct) for NLU, summarization, and content generation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609600" y="25603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Streamlit: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2926080" y="256032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web framework for building responsive user interface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609600" y="3108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Watsonx.ai: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2926080" y="310896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platform for model deployment, embeddings, and AI governance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0960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Architecture: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2926080" y="365760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 for document-grounded Q&amp;A</a:t>
            </a:r>
            <a:endParaRPr lang="en-US" sz="1733" dirty="0"/>
          </a:p>
        </p:txBody>
      </p:sp>
      <p:sp>
        <p:nvSpPr>
          <p:cNvPr id="14" name="Text 12"/>
          <p:cNvSpPr/>
          <p:nvPr/>
        </p:nvSpPr>
        <p:spPr>
          <a:xfrm>
            <a:off x="609600" y="42062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FAISS: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2926080" y="420624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 AI Similarity Search for high-speed vector indexing and retrieval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609600" y="4754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SentenceTransformers: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2926080" y="475488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all-MiniLM-L6-v2 model for semantic text embeddings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609600" y="5303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PyPDF &amp; Text Processing:</a:t>
            </a:r>
            <a:endParaRPr lang="en-US" sz="1733" dirty="0"/>
          </a:p>
        </p:txBody>
      </p:sp>
      <p:sp>
        <p:nvSpPr>
          <p:cNvPr id="19" name="Text 17"/>
          <p:cNvSpPr/>
          <p:nvPr/>
        </p:nvSpPr>
        <p:spPr>
          <a:xfrm>
            <a:off x="2926080" y="5303520"/>
            <a:ext cx="865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extraction and text chunking for document processing</a:t>
            </a:r>
            <a:endParaRPr lang="en-US" sz="17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182880"/>
            <a:ext cx="109728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Components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609600" y="1463040"/>
            <a:ext cx="109728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Components (Implemented in Python):</a:t>
            </a:r>
            <a:endParaRPr lang="en-US" sz="1867" dirty="0"/>
          </a:p>
        </p:txBody>
      </p:sp>
      <p:sp>
        <p:nvSpPr>
          <p:cNvPr id="5" name="Text 3"/>
          <p:cNvSpPr/>
          <p:nvPr/>
        </p:nvSpPr>
        <p:spPr>
          <a:xfrm>
            <a:off x="853440" y="219456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File Upload Component – Accepts PDF, TXT, and text input from users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853440" y="268224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Text Extraction Module – Extracts and preprocesses content from documents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853440" y="316992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Text Chunking &amp; Embedding – Splits text into semantic chunks and creates vector embeddings using SentenceTransformers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853440" y="365760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FAISS Vector Index – Stores embeddings for fast semantic search and retrieval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853440" y="414528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5) IBM Granite LLM Component – Processes simplification requests and generates context-aware responses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853440" y="463296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6) RAG Retrieval Pipeline – Fetches relevant document chunks based on semantic similarity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853440" y="512064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7) Streamlit UI Component – Provides interactive tabs for content simplification and document Q&amp;A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853440" y="5608320"/>
            <a:ext cx="1072896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8) Session State Manager – Maintains chat history and document context across interactions</a:t>
            </a:r>
            <a:endParaRPr lang="en-US" sz="173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endParaRPr sz="2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F5ED1B-CB27-7A0D-4F25-F73306D55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" y="771747"/>
            <a:ext cx="100584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 txBox="1"/>
          <p:nvPr/>
        </p:nvSpPr>
        <p:spPr>
          <a:xfrm>
            <a:off x="466344" y="0"/>
            <a:ext cx="9317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Role of </a:t>
            </a:r>
            <a:r>
              <a:rPr lang="en-US" sz="3200" b="1" dirty="0"/>
              <a:t>Agentic</a:t>
            </a:r>
            <a:r>
              <a:rPr lang="en-US" sz="3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in </a:t>
            </a:r>
            <a:r>
              <a:rPr lang="en-US" sz="3200" b="1" dirty="0"/>
              <a:t>Atlas AI </a:t>
            </a:r>
            <a:r>
              <a:rPr lang="en-US" sz="3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32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0"/>
          <p:cNvSpPr txBox="1"/>
          <p:nvPr/>
        </p:nvSpPr>
        <p:spPr>
          <a:xfrm>
            <a:off x="284480" y="585000"/>
            <a:ext cx="11694159" cy="6309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Atlas AI Leverages Agentic AI &amp; IBM Granite:</a:t>
            </a:r>
            <a:endParaRPr lang="en-US" dirty="0"/>
          </a:p>
          <a:p>
            <a:endParaRPr lang="en-US" sz="100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Specialization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simplification agent specializes in understanding academic content and user proficiency levels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Adapts responses dynamically based on target audience and language preferences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Maintains context awareness throughout multi-turn conversations</a:t>
            </a:r>
            <a:endParaRPr lang="en-US" dirty="0"/>
          </a:p>
          <a:p>
            <a:endParaRPr lang="en-US" sz="400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Context-Aware Processing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Understands user inputs (proficiency level, language, domain context)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Generates responses that match cognitive level while preserving technical accuracy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Retrieves relevant information from documents through intelligent semantic search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Collaboration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Simplification Agent: Rewrites complex text for target proficiency level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Jargon Analyzer: Extracts and defines technical terms contextually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Analogy Generator: Creates real-world connections to abstract concepts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RAG Retrieval Agent: Fetches document-grounded information for Q&amp;A</a:t>
            </a:r>
            <a:endParaRPr lang="en-US" dirty="0"/>
          </a:p>
          <a:p>
            <a:endParaRPr lang="en-US" sz="1000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Adaptation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Continuously learns from user interactions and feedback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Adjusts explanation depth and language complexity on demand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Supports multiple regional languages dynamically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Personalization at Scale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Tailors learning experience to individual student needs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Provides multi-level content (Beginner → Expert) from single source material</a:t>
            </a:r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Generates personalized study aids (summaries, analogies, practice questions)</a:t>
            </a:r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Impact</a:t>
            </a:r>
            <a:endParaRPr lang="en-US" dirty="0"/>
          </a:p>
          <a:p>
            <a:r>
              <a:rPr lang="en-US" dirty="0" err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Saarthi</a:t>
            </a: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transforms static educational resources into an intelligent, adaptive, and personalized learning companion that understands student needs and delivers targeted educational support.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FA329-C1A9-8E93-5C44-50D408132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IBM BOB</a:t>
            </a:r>
            <a:br>
              <a:rPr lang="en-IN" dirty="0"/>
            </a:b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555217-2DF3-A11F-676C-14C2C5B6E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840" y="1223156"/>
            <a:ext cx="8195752" cy="55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5628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/>
          <p:nvPr/>
        </p:nvSpPr>
        <p:spPr>
          <a:xfrm>
            <a:off x="793192" y="3415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 Usage </a:t>
            </a:r>
            <a:endParaRPr sz="2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21"/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3" name="Google Shape;143;p21"/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4" name="Google Shape;144;p21"/>
          <p:cNvSpPr txBox="1"/>
          <p:nvPr/>
        </p:nvSpPr>
        <p:spPr>
          <a:xfrm>
            <a:off x="929667" y="1045583"/>
            <a:ext cx="43713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/>
              <a:t>1.2M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token are used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1"/>
          <p:cNvSpPr txBox="1"/>
          <p:nvPr/>
        </p:nvSpPr>
        <p:spPr>
          <a:xfrm>
            <a:off x="793189" y="1827092"/>
            <a:ext cx="2743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u="sng"/>
              <a:t>Resource Usage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C9D50D-74BC-4593-29AC-43A5417B15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89" y="2563944"/>
            <a:ext cx="9356651" cy="391451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>
          <a:extLst>
            <a:ext uri="{FF2B5EF4-FFF2-40B4-BE49-F238E27FC236}">
              <a16:creationId xmlns:a16="http://schemas.microsoft.com/office/drawing/2014/main" id="{FD6AA926-0E92-B851-3A99-7EF3F4BE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1">
            <a:extLst>
              <a:ext uri="{FF2B5EF4-FFF2-40B4-BE49-F238E27FC236}">
                <a16:creationId xmlns:a16="http://schemas.microsoft.com/office/drawing/2014/main" id="{8C4F50F4-1B5D-1FBB-EF23-6E291782922C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3" name="Google Shape;143;p21">
            <a:extLst>
              <a:ext uri="{FF2B5EF4-FFF2-40B4-BE49-F238E27FC236}">
                <a16:creationId xmlns:a16="http://schemas.microsoft.com/office/drawing/2014/main" id="{982DCD7F-31FA-A90D-57F9-D953BDD3EC7A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5" name="Google Shape;145;p21">
            <a:extLst>
              <a:ext uri="{FF2B5EF4-FFF2-40B4-BE49-F238E27FC236}">
                <a16:creationId xmlns:a16="http://schemas.microsoft.com/office/drawing/2014/main" id="{1EAA5ED1-719F-4E6C-EFDA-139832A26D31}"/>
              </a:ext>
            </a:extLst>
          </p:cNvPr>
          <p:cNvSpPr txBox="1"/>
          <p:nvPr/>
        </p:nvSpPr>
        <p:spPr>
          <a:xfrm>
            <a:off x="793189" y="1827092"/>
            <a:ext cx="2743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u="sng" dirty="0"/>
              <a:t>Token Usage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D32C60-70E0-B6A8-DADD-FAA61B821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7688" y="2227292"/>
            <a:ext cx="3496163" cy="37629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8D7704-ECC9-F8F9-83E2-07D7DA302F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850" t="20019" r="52525" b="16768"/>
          <a:stretch>
            <a:fillRect/>
          </a:stretch>
        </p:blipFill>
        <p:spPr>
          <a:xfrm>
            <a:off x="1309377" y="2569088"/>
            <a:ext cx="3611880" cy="3652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3656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182880"/>
            <a:ext cx="109728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333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and Uniqueness</a:t>
            </a:r>
            <a:endParaRPr lang="en-US" sz="5333" dirty="0">
              <a:solidFill>
                <a:schemeClr val="tx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853440" y="1200912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Educational Focus with Agentic AI – Combines AI agents specifically designed for learning simplification, not generic chatbots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53440" y="1737360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Multi-Level Content Generation – Single source material generates Beginner/Intermediate/Expert versions automatically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53440" y="2243328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RAG-Grounded Learning – Answers are strictly based on uploaded documents, reducing hallucinations and improving accuracy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3440" y="2737104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Jargon-Centric Approach – Explicitly identifies, defines, and contextualizes technical terminology for all learner types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3440" y="3243072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Real-World Analogy Generation – Creates concrete connections between abstract concepts and everyday experiences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53440" y="3637280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Multilingual Support – Extends accessibility across Indian and international student populations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53440" y="3978656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Document-Aware Q&amp;A – RAG pipeline ensures all responses are grounded in actual study material, not generic knowledge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3440" y="4372864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Proficiency-Adaptive Learning – Content complexity adjusts dynamically based on learner level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53440" y="4714240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Transparent AI Processing – Shows jargon definitions and reasoning, building student trust in AI assistance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53440" y="5055616"/>
            <a:ext cx="1072896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Cloud-Ready Architecture – Deployable on IBM Cloud with built-in scalability and governance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729700" y="215100"/>
            <a:ext cx="105156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Some visuals</a:t>
            </a:r>
            <a:endParaRPr/>
          </a:p>
        </p:txBody>
      </p:sp>
      <p:pic>
        <p:nvPicPr>
          <p:cNvPr id="170" name="Google Shape;170;p24"/>
          <p:cNvPicPr preferRelativeResize="0"/>
          <p:nvPr/>
        </p:nvPicPr>
        <p:blipFill>
          <a:blip r:embed="rId3">
            <a:alphaModFix/>
          </a:blip>
          <a:srcRect/>
          <a:stretch/>
        </p:blipFill>
        <p:spPr>
          <a:xfrm>
            <a:off x="7345077" y="1352398"/>
            <a:ext cx="3090301" cy="21871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4"/>
          <p:cNvPicPr preferRelativeResize="0"/>
          <p:nvPr/>
        </p:nvPicPr>
        <p:blipFill>
          <a:blip r:embed="rId4">
            <a:alphaModFix/>
          </a:blip>
          <a:srcRect/>
          <a:stretch/>
        </p:blipFill>
        <p:spPr>
          <a:xfrm>
            <a:off x="614300" y="4014723"/>
            <a:ext cx="4583344" cy="2628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746932-4C3C-7648-A719-D1CF9ED81A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451" y="1400448"/>
            <a:ext cx="6474788" cy="19814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614718F-479C-D233-4E8A-A218F62532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7500" y="3918489"/>
            <a:ext cx="4997623" cy="272441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937F1-E206-3F94-E58A-7EEDA15D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GITHUB 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BEF97-C0E0-A22D-BC06-B5AFAEC56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https://github.com/Dikshant422/Atlas-AI</a:t>
            </a:r>
          </a:p>
        </p:txBody>
      </p:sp>
    </p:spTree>
    <p:extLst>
      <p:ext uri="{BB962C8B-B14F-4D97-AF65-F5344CB8AC3E}">
        <p14:creationId xmlns:p14="http://schemas.microsoft.com/office/powerpoint/2010/main" val="17804208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7"/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Certificates Earned: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7"/>
          <p:cNvSpPr txBox="1"/>
          <p:nvPr/>
        </p:nvSpPr>
        <p:spPr>
          <a:xfrm>
            <a:off x="552048" y="690061"/>
            <a:ext cx="6390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27"/>
          <p:cNvPicPr preferRelativeResize="0"/>
          <p:nvPr/>
        </p:nvPicPr>
        <p:blipFill>
          <a:blip r:embed="rId3">
            <a:alphaModFix/>
          </a:blip>
          <a:srcRect/>
          <a:stretch/>
        </p:blipFill>
        <p:spPr>
          <a:xfrm>
            <a:off x="504938" y="1359800"/>
            <a:ext cx="3160749" cy="2455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7"/>
          <p:cNvPicPr preferRelativeResize="0"/>
          <p:nvPr/>
        </p:nvPicPr>
        <p:blipFill>
          <a:blip r:embed="rId4">
            <a:alphaModFix/>
          </a:blip>
          <a:srcRect/>
          <a:stretch/>
        </p:blipFill>
        <p:spPr>
          <a:xfrm>
            <a:off x="7990643" y="1107350"/>
            <a:ext cx="3156539" cy="24611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7"/>
          <p:cNvPicPr preferRelativeResize="0"/>
          <p:nvPr/>
        </p:nvPicPr>
        <p:blipFill>
          <a:blip r:embed="rId5">
            <a:alphaModFix/>
          </a:blip>
          <a:srcRect/>
          <a:stretch/>
        </p:blipFill>
        <p:spPr>
          <a:xfrm>
            <a:off x="4412349" y="4079971"/>
            <a:ext cx="3367299" cy="20834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9600" y="182880"/>
            <a:ext cx="109728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333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 &amp; Enhancement</a:t>
            </a:r>
            <a:endParaRPr lang="en-US" sz="5333" dirty="0">
              <a:solidFill>
                <a:schemeClr val="tx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Advanced Multi-Modal Learning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Integrate OCR to process scanned textbooks and handwritten notes; support voice input for accessibility</a:t>
            </a:r>
            <a:endParaRPr lang="en-US" sz="1467" dirty="0"/>
          </a:p>
        </p:txBody>
      </p:sp>
      <p:sp>
        <p:nvSpPr>
          <p:cNvPr id="5" name="Text 3"/>
          <p:cNvSpPr/>
          <p:nvPr/>
        </p:nvSpPr>
        <p:spPr>
          <a:xfrm>
            <a:off x="731520" y="2097024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AI-Powered Assessment Generation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Auto-generate multiple-choice questions, short-answer prompts, essay questions, and interactive quizzes from content</a:t>
            </a:r>
            <a:endParaRPr lang="en-US" sz="1467" dirty="0"/>
          </a:p>
        </p:txBody>
      </p:sp>
      <p:sp>
        <p:nvSpPr>
          <p:cNvPr id="6" name="Text 4"/>
          <p:cNvSpPr/>
          <p:nvPr/>
        </p:nvSpPr>
        <p:spPr>
          <a:xfrm>
            <a:off x="731520" y="2731008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Learning Analytics Dashboard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Track student progress, identify weak areas, provide personalized study recommendations based on performance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731520" y="3364992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Collaborative Learning Features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Enable peer-to-peer learning, study group features, and shared annotation on simplified content</a:t>
            </a:r>
            <a:endParaRPr lang="en-US" sz="1467" dirty="0"/>
          </a:p>
        </p:txBody>
      </p:sp>
      <p:sp>
        <p:nvSpPr>
          <p:cNvPr id="8" name="Text 6"/>
          <p:cNvSpPr/>
          <p:nvPr/>
        </p:nvSpPr>
        <p:spPr>
          <a:xfrm>
            <a:off x="731520" y="3998976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Mobile Applications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Develop iOS/Android apps for on-the-go learning with offline support for downloaded content</a:t>
            </a:r>
            <a:endParaRPr lang="en-US" sz="1467" dirty="0"/>
          </a:p>
        </p:txBody>
      </p:sp>
      <p:sp>
        <p:nvSpPr>
          <p:cNvPr id="9" name="Text 7"/>
          <p:cNvSpPr/>
          <p:nvPr/>
        </p:nvSpPr>
        <p:spPr>
          <a:xfrm>
            <a:off x="731520" y="4632960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LMS Integration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Integrate with platforms like Moodle, Google Classroom, Canvas for seamless institution-wide deployment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731520" y="5266944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Advanced RAG with Web Integration</a:t>
            </a:r>
            <a:endParaRPr lang="en-US" sz="1467" dirty="0"/>
          </a:p>
          <a:p>
            <a:r>
              <a:rPr lang="en-US" sz="1467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Extend RAG to fetch real-time information from web sources, academic databases, and research papers</a:t>
            </a:r>
            <a:endParaRPr lang="en-US" sz="1467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8"/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Certificates Earned:</a:t>
            </a:r>
            <a:r>
              <a:rPr lang="en-US"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​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28"/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IBM BOB Certificate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5B62C9-07B5-0C33-D2E6-4FF7C7B8E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224" y="1397402"/>
            <a:ext cx="8051551" cy="494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720" y="386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333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 Note</a:t>
            </a:r>
            <a:endParaRPr lang="en-US" sz="5333" dirty="0">
              <a:solidFill>
                <a:schemeClr val="tx1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426720" y="1722120"/>
            <a:ext cx="10972800" cy="3413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is built with IBM Granite integration through the ibm-watsonx-ai SDK. </a:t>
            </a:r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supports both live IBM Watsonx mode (with valid credentials) and a full-featured Demo Mode </a:t>
            </a:r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simulates the exact same interface and behavior for demonstration purposes.</a:t>
            </a:r>
            <a:endParaRPr lang="en-US" sz="2133" dirty="0">
              <a:solidFill>
                <a:schemeClr val="tx1"/>
              </a:solidFill>
            </a:endParaRPr>
          </a:p>
          <a:p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core functionality—content simplification, RAG-based Q&amp;A, multi-level support, and language </a:t>
            </a:r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handling—works identically in both modes. The Demo Mode is fully functional for showcasing the </a:t>
            </a:r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without requiring active API credentials.</a:t>
            </a:r>
            <a:endParaRPr lang="en-US" sz="2133" dirty="0">
              <a:solidFill>
                <a:schemeClr val="tx1"/>
              </a:solidFill>
            </a:endParaRPr>
          </a:p>
          <a:p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source code with both modes is available in the GitHub repository, demonstrating </a:t>
            </a:r>
            <a:endParaRPr lang="en-US" sz="2133" dirty="0">
              <a:solidFill>
                <a:schemeClr val="tx1"/>
              </a:solidFill>
            </a:endParaRPr>
          </a:p>
          <a:p>
            <a:r>
              <a:rPr lang="en-US" sz="2133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enterprise-ready architecture suitable for educational deployment.</a:t>
            </a:r>
            <a:endParaRPr lang="en-US" sz="2133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6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EB28F1C-6068-40AB-A869-4380D1BC089E}">
  <we:reference id="wa200005566" version="3.0.1.2" store="en-US" storeType="OMEX"/>
  <we:alternateReferences>
    <we:reference id="wa200005566" version="3.0.1.2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442</TotalTime>
  <Words>1416</Words>
  <Application>Microsoft Office PowerPoint</Application>
  <PresentationFormat>Widescreen</PresentationFormat>
  <Paragraphs>182</Paragraphs>
  <Slides>19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BOB </vt:lpstr>
      <vt:lpstr>PowerPoint Presentation</vt:lpstr>
      <vt:lpstr>PowerPoint Presentation</vt:lpstr>
      <vt:lpstr>PowerPoint Presentation</vt:lpstr>
      <vt:lpstr>Some visuals</vt:lpstr>
      <vt:lpstr>GITHUB LINK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Dikshant</dc:creator>
  <cp:lastModifiedBy>Dikshant Ojha</cp:lastModifiedBy>
  <cp:revision>4</cp:revision>
  <dcterms:modified xsi:type="dcterms:W3CDTF">2026-07-18T10:22:59Z</dcterms:modified>
</cp:coreProperties>
</file>